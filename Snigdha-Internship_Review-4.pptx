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9" r:id="rId2"/>
    <p:sldId id="270" r:id="rId3"/>
    <p:sldId id="261" r:id="rId4"/>
    <p:sldId id="262" r:id="rId5"/>
    <p:sldId id="263" r:id="rId6"/>
    <p:sldId id="264" r:id="rId7"/>
    <p:sldId id="265" r:id="rId8"/>
    <p:sldId id="271" r:id="rId9"/>
    <p:sldId id="272" r:id="rId10"/>
    <p:sldId id="273" r:id="rId11"/>
    <p:sldId id="274" r:id="rId12"/>
    <p:sldId id="275" r:id="rId13"/>
    <p:sldId id="276" r:id="rId14"/>
    <p:sldId id="278" r:id="rId15"/>
    <p:sldId id="279" r:id="rId16"/>
    <p:sldId id="280" r:id="rId17"/>
    <p:sldId id="277" r:id="rId18"/>
    <p:sldId id="266" r:id="rId19"/>
    <p:sldId id="281" r:id="rId20"/>
    <p:sldId id="282" r:id="rId21"/>
    <p:sldId id="267" r:id="rId22"/>
    <p:sldId id="268"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51C095-7090-411C-9FEA-2EABBF987120}" v="13" dt="2026-04-07T08:00:29.4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62" d="100"/>
          <a:sy n="62" d="100"/>
        </p:scale>
        <p:origin x="6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IGDHA PALAGIRI" userId="f5e223e2163ba2c2" providerId="LiveId" clId="{C24F69EB-C8E9-4779-A803-3B53064350CD}"/>
    <pc:docChg chg="undo custSel addSld modSld">
      <pc:chgData name="SNIGDHA PALAGIRI" userId="f5e223e2163ba2c2" providerId="LiveId" clId="{C24F69EB-C8E9-4779-A803-3B53064350CD}" dt="2026-04-07T08:00:29.461" v="241" actId="14100"/>
      <pc:docMkLst>
        <pc:docMk/>
      </pc:docMkLst>
      <pc:sldChg chg="addSp delSp modSp mod">
        <pc:chgData name="SNIGDHA PALAGIRI" userId="f5e223e2163ba2c2" providerId="LiveId" clId="{C24F69EB-C8E9-4779-A803-3B53064350CD}" dt="2026-04-07T07:51:32.023" v="149" actId="20577"/>
        <pc:sldMkLst>
          <pc:docMk/>
          <pc:sldMk cId="3066724582" sldId="259"/>
        </pc:sldMkLst>
        <pc:spChg chg="add mod">
          <ac:chgData name="SNIGDHA PALAGIRI" userId="f5e223e2163ba2c2" providerId="LiveId" clId="{C24F69EB-C8E9-4779-A803-3B53064350CD}" dt="2026-04-07T07:51:32.023" v="149" actId="20577"/>
          <ac:spMkLst>
            <pc:docMk/>
            <pc:sldMk cId="3066724582" sldId="259"/>
            <ac:spMk id="13" creationId="{D1A71FC0-C43F-A660-C469-559E3F6F9F52}"/>
          </ac:spMkLst>
        </pc:spChg>
      </pc:sldChg>
      <pc:sldChg chg="addSp delSp modSp mod">
        <pc:chgData name="SNIGDHA PALAGIRI" userId="f5e223e2163ba2c2" providerId="LiveId" clId="{C24F69EB-C8E9-4779-A803-3B53064350CD}" dt="2026-04-07T07:57:32.429" v="191" actId="20577"/>
        <pc:sldMkLst>
          <pc:docMk/>
          <pc:sldMk cId="3497100239" sldId="266"/>
        </pc:sldMkLst>
        <pc:spChg chg="mod">
          <ac:chgData name="SNIGDHA PALAGIRI" userId="f5e223e2163ba2c2" providerId="LiveId" clId="{C24F69EB-C8E9-4779-A803-3B53064350CD}" dt="2026-04-07T07:56:47.247" v="183" actId="20577"/>
          <ac:spMkLst>
            <pc:docMk/>
            <pc:sldMk cId="3497100239" sldId="266"/>
            <ac:spMk id="2" creationId="{00000000-0000-0000-0000-000000000000}"/>
          </ac:spMkLst>
        </pc:spChg>
        <pc:spChg chg="add mod">
          <ac:chgData name="SNIGDHA PALAGIRI" userId="f5e223e2163ba2c2" providerId="LiveId" clId="{C24F69EB-C8E9-4779-A803-3B53064350CD}" dt="2026-04-07T07:57:32.429" v="191" actId="20577"/>
          <ac:spMkLst>
            <pc:docMk/>
            <pc:sldMk cId="3497100239" sldId="266"/>
            <ac:spMk id="7" creationId="{AFABE91E-289A-97B1-B570-D107AED88DFE}"/>
          </ac:spMkLst>
        </pc:spChg>
        <pc:graphicFrameChg chg="del mod">
          <ac:chgData name="SNIGDHA PALAGIRI" userId="f5e223e2163ba2c2" providerId="LiveId" clId="{C24F69EB-C8E9-4779-A803-3B53064350CD}" dt="2026-04-07T07:57:19.015" v="186" actId="478"/>
          <ac:graphicFrameMkLst>
            <pc:docMk/>
            <pc:sldMk cId="3497100239" sldId="266"/>
            <ac:graphicFrameMk id="3" creationId="{554BFA95-36FE-4189-63F0-C89B88F08121}"/>
          </ac:graphicFrameMkLst>
        </pc:graphicFrameChg>
        <pc:graphicFrameChg chg="del">
          <ac:chgData name="SNIGDHA PALAGIRI" userId="f5e223e2163ba2c2" providerId="LiveId" clId="{C24F69EB-C8E9-4779-A803-3B53064350CD}" dt="2026-04-07T07:56:15.422" v="150" actId="478"/>
          <ac:graphicFrameMkLst>
            <pc:docMk/>
            <pc:sldMk cId="3497100239" sldId="266"/>
            <ac:graphicFrameMk id="5" creationId="{73F99E86-6A3A-3D5F-7325-9EA03B0BED5F}"/>
          </ac:graphicFrameMkLst>
        </pc:graphicFrameChg>
        <pc:graphicFrameChg chg="del mod">
          <ac:chgData name="SNIGDHA PALAGIRI" userId="f5e223e2163ba2c2" providerId="LiveId" clId="{C24F69EB-C8E9-4779-A803-3B53064350CD}" dt="2026-04-07T07:57:29.022" v="188" actId="478"/>
          <ac:graphicFrameMkLst>
            <pc:docMk/>
            <pc:sldMk cId="3497100239" sldId="266"/>
            <ac:graphicFrameMk id="8" creationId="{00000000-0000-0000-0000-000000000000}"/>
          </ac:graphicFrameMkLst>
        </pc:graphicFrameChg>
      </pc:sldChg>
      <pc:sldChg chg="modSp new mod">
        <pc:chgData name="SNIGDHA PALAGIRI" userId="f5e223e2163ba2c2" providerId="LiveId" clId="{C24F69EB-C8E9-4779-A803-3B53064350CD}" dt="2026-04-07T07:59:36.372" v="218"/>
        <pc:sldMkLst>
          <pc:docMk/>
          <pc:sldMk cId="23818939" sldId="281"/>
        </pc:sldMkLst>
        <pc:spChg chg="mod">
          <ac:chgData name="SNIGDHA PALAGIRI" userId="f5e223e2163ba2c2" providerId="LiveId" clId="{C24F69EB-C8E9-4779-A803-3B53064350CD}" dt="2026-04-07T07:59:29.328" v="217" actId="20577"/>
          <ac:spMkLst>
            <pc:docMk/>
            <pc:sldMk cId="23818939" sldId="281"/>
            <ac:spMk id="2" creationId="{29577687-00CF-5CEB-944D-3A008EE5DA15}"/>
          </ac:spMkLst>
        </pc:spChg>
        <pc:spChg chg="mod">
          <ac:chgData name="SNIGDHA PALAGIRI" userId="f5e223e2163ba2c2" providerId="LiveId" clId="{C24F69EB-C8E9-4779-A803-3B53064350CD}" dt="2026-04-07T07:59:36.372" v="218"/>
          <ac:spMkLst>
            <pc:docMk/>
            <pc:sldMk cId="23818939" sldId="281"/>
            <ac:spMk id="3" creationId="{0339A1E9-609C-3A5C-6E76-D8DE63BD8120}"/>
          </ac:spMkLst>
        </pc:spChg>
      </pc:sldChg>
      <pc:sldChg chg="addSp delSp modSp new mod">
        <pc:chgData name="SNIGDHA PALAGIRI" userId="f5e223e2163ba2c2" providerId="LiveId" clId="{C24F69EB-C8E9-4779-A803-3B53064350CD}" dt="2026-04-07T08:00:29.461" v="241" actId="14100"/>
        <pc:sldMkLst>
          <pc:docMk/>
          <pc:sldMk cId="338634968" sldId="282"/>
        </pc:sldMkLst>
        <pc:spChg chg="mod">
          <ac:chgData name="SNIGDHA PALAGIRI" userId="f5e223e2163ba2c2" providerId="LiveId" clId="{C24F69EB-C8E9-4779-A803-3B53064350CD}" dt="2026-04-07T08:00:24.288" v="240" actId="20577"/>
          <ac:spMkLst>
            <pc:docMk/>
            <pc:sldMk cId="338634968" sldId="282"/>
            <ac:spMk id="2" creationId="{199130E2-2DA9-5F4A-C2B0-CD6A59D44457}"/>
          </ac:spMkLst>
        </pc:spChg>
        <pc:spChg chg="del">
          <ac:chgData name="SNIGDHA PALAGIRI" userId="f5e223e2163ba2c2" providerId="LiveId" clId="{C24F69EB-C8E9-4779-A803-3B53064350CD}" dt="2026-04-07T07:59:49.764" v="220"/>
          <ac:spMkLst>
            <pc:docMk/>
            <pc:sldMk cId="338634968" sldId="282"/>
            <ac:spMk id="3" creationId="{08702B91-FD94-FF5F-12E5-EA7FEAF7B761}"/>
          </ac:spMkLst>
        </pc:spChg>
        <pc:spChg chg="add mod">
          <ac:chgData name="SNIGDHA PALAGIRI" userId="f5e223e2163ba2c2" providerId="LiveId" clId="{C24F69EB-C8E9-4779-A803-3B53064350CD}" dt="2026-04-07T08:00:29.461" v="241" actId="14100"/>
          <ac:spMkLst>
            <pc:docMk/>
            <pc:sldMk cId="338634968" sldId="282"/>
            <ac:spMk id="6" creationId="{D883D1D2-AFAF-3CFF-7942-D4FD7BD2AB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07/04/2026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07-04-2026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07-04-2026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07-04-2026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07-04-2026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07-04-2026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07-04-2026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07-04-2026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07-04-2026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07-04-2026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07-04-2026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07-04-2026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07-04-2026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Snigdha230920/snigdha-internship"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7" name="Google Shape;90;p13">
            <a:extLst>
              <a:ext uri="{FF2B5EF4-FFF2-40B4-BE49-F238E27FC236}">
                <a16:creationId xmlns:a16="http://schemas.microsoft.com/office/drawing/2014/main" id="{A4FFE504-85EE-0FA5-B9F4-2C914015C259}"/>
              </a:ext>
            </a:extLst>
          </p:cNvPr>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fontScale="92500" lnSpcReduction="10000"/>
          </a:bodyPr>
          <a:lstStyle/>
          <a:p>
            <a:pPr lvl="0" algn="ctr">
              <a:buClr>
                <a:srgbClr val="17365D"/>
              </a:buClr>
              <a:buSzPts val="2000"/>
            </a:pPr>
            <a:r>
              <a:rPr lang="en-GB" sz="24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GB" sz="2000" dirty="0">
              <a:latin typeface="Cambria" panose="02040503050406030204" pitchFamily="18" charset="0"/>
              <a:ea typeface="Cambria" panose="02040503050406030204" pitchFamily="18" charset="0"/>
            </a:endParaRPr>
          </a:p>
          <a:p>
            <a:pPr lvl="0" algn="ctr">
              <a:spcBef>
                <a:spcPts val="400"/>
              </a:spcBef>
              <a:buClr>
                <a:srgbClr val="17365D"/>
              </a:buClr>
              <a:buSzPts val="2000"/>
            </a:pPr>
            <a:endParaRPr lang="en-GB" sz="24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2000" b="1" dirty="0" err="1">
                <a:solidFill>
                  <a:srgbClr val="17365D"/>
                </a:solidFill>
                <a:latin typeface="Cambria" panose="02040503050406030204" pitchFamily="18" charset="0"/>
                <a:ea typeface="Cambria" panose="02040503050406030204" pitchFamily="18" charset="0"/>
                <a:cs typeface="Verdana"/>
                <a:sym typeface="Verdana"/>
              </a:rPr>
              <a:t>Ms.Anu</a:t>
            </a:r>
            <a:r>
              <a:rPr lang="en-GB" sz="2000" b="1" dirty="0">
                <a:solidFill>
                  <a:srgbClr val="17365D"/>
                </a:solidFill>
                <a:latin typeface="Cambria" panose="02040503050406030204" pitchFamily="18" charset="0"/>
                <a:ea typeface="Cambria" panose="02040503050406030204" pitchFamily="18" charset="0"/>
                <a:cs typeface="Verdana"/>
                <a:sym typeface="Verdana"/>
              </a:rPr>
              <a:t> Joseph</a:t>
            </a:r>
            <a:endParaRPr lang="en-GB"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Assistant Professor</a:t>
            </a:r>
            <a:endParaRPr lang="en-GB"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lang="en-GB"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GB" sz="2000" dirty="0">
              <a:latin typeface="Cambria" panose="02040503050406030204" pitchFamily="18" charset="0"/>
              <a:ea typeface="Cambria" panose="02040503050406030204" pitchFamily="18" charset="0"/>
            </a:endParaRPr>
          </a:p>
        </p:txBody>
      </p:sp>
      <p:sp>
        <p:nvSpPr>
          <p:cNvPr id="11" name="Google Shape;91;p13">
            <a:extLst>
              <a:ext uri="{FF2B5EF4-FFF2-40B4-BE49-F238E27FC236}">
                <a16:creationId xmlns:a16="http://schemas.microsoft.com/office/drawing/2014/main" id="{ED1C6942-F4E2-F7B7-DD55-CCD9C81A48DE}"/>
              </a:ext>
            </a:extLst>
          </p:cNvPr>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GB"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GB" sz="2000" b="1" dirty="0">
                <a:latin typeface="Cambria" panose="02040503050406030204" pitchFamily="18" charset="0"/>
                <a:ea typeface="Cambria" panose="02040503050406030204" pitchFamily="18" charset="0"/>
                <a:cs typeface="Verdana"/>
                <a:sym typeface="Verdana"/>
              </a:rPr>
              <a:t>School of Computer Science and Engineering</a:t>
            </a:r>
            <a:endParaRPr lang="en-GB"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GB"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GB"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GB" sz="2000" b="1" dirty="0">
                <a:solidFill>
                  <a:schemeClr val="accent1"/>
                </a:solidFill>
                <a:latin typeface="Cambria" panose="02040503050406030204" pitchFamily="18" charset="0"/>
                <a:ea typeface="Cambria" panose="02040503050406030204" pitchFamily="18" charset="0"/>
                <a:cs typeface="Verdana"/>
                <a:sym typeface="Verdana"/>
              </a:rPr>
              <a:t>: : </a:t>
            </a:r>
            <a:r>
              <a:rPr lang="en-GB" sz="2000" b="1" dirty="0"/>
              <a:t>Dr. Blessed Prince</a:t>
            </a:r>
            <a:endParaRPr lang="en-GB"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GB" sz="2000" b="1"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GB" sz="2000" b="1" dirty="0"/>
              <a:t>Ms. Riya Sanjesh</a:t>
            </a:r>
            <a:endParaRPr lang="en-GB"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GB"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GB"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GB" sz="2000" b="1" dirty="0">
                <a:latin typeface="Cambria" panose="02040503050406030204" pitchFamily="18" charset="0"/>
                <a:ea typeface="Cambria" panose="02040503050406030204" pitchFamily="18" charset="0"/>
                <a:cs typeface="Verdana"/>
                <a:sym typeface="Verdana"/>
              </a:rPr>
              <a:t> 													</a:t>
            </a:r>
          </a:p>
        </p:txBody>
      </p:sp>
      <p:graphicFrame>
        <p:nvGraphicFramePr>
          <p:cNvPr id="12" name="Table 11">
            <a:extLst>
              <a:ext uri="{FF2B5EF4-FFF2-40B4-BE49-F238E27FC236}">
                <a16:creationId xmlns:a16="http://schemas.microsoft.com/office/drawing/2014/main" id="{96459649-0356-98D4-565D-EB29E024EE2D}"/>
              </a:ext>
            </a:extLst>
          </p:cNvPr>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
        <p:nvSpPr>
          <p:cNvPr id="13" name="Title 1">
            <a:extLst>
              <a:ext uri="{FF2B5EF4-FFF2-40B4-BE49-F238E27FC236}">
                <a16:creationId xmlns:a16="http://schemas.microsoft.com/office/drawing/2014/main" id="{D1A71FC0-C43F-A660-C469-559E3F6F9F52}"/>
              </a:ext>
            </a:extLst>
          </p:cNvPr>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Review-4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Web </a:t>
            </a:r>
            <a:r>
              <a:rPr lang="en-GB" sz="2400" dirty="0">
                <a:solidFill>
                  <a:srgbClr val="0070C0"/>
                </a:solidFill>
                <a:latin typeface="Times New Roman" panose="02020603050405020304" pitchFamily="18" charset="0"/>
                <a:ea typeface="Tahoma" pitchFamily="34" charset="0"/>
                <a:cs typeface="Times New Roman" panose="02020603050405020304" pitchFamily="18" charset="0"/>
              </a:rPr>
              <a:t>Development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4EECF9BF-AAC8-7460-38C0-1A85AB4F5B16}"/>
              </a:ext>
            </a:extLst>
          </p:cNvPr>
          <p:cNvGraphicFramePr>
            <a:graphicFrameLocks noGrp="1"/>
          </p:cNvGraphicFramePr>
          <p:nvPr>
            <p:extLst>
              <p:ext uri="{D42A27DB-BD31-4B8C-83A1-F6EECF244321}">
                <p14:modId xmlns:p14="http://schemas.microsoft.com/office/powerpoint/2010/main" val="3882315482"/>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Snigdha Sai </a:t>
                      </a:r>
                      <a:r>
                        <a:rPr lang="en-GB" dirty="0" err="1">
                          <a:latin typeface="Cambria" panose="02040503050406030204" pitchFamily="18" charset="0"/>
                          <a:ea typeface="Cambria" panose="02040503050406030204" pitchFamily="18" charset="0"/>
                          <a:cs typeface="Times New Roman" panose="02020603050405020304" pitchFamily="18" charset="0"/>
                        </a:rPr>
                        <a:t>Palagiri</a:t>
                      </a:r>
                      <a:r>
                        <a:rPr lang="en-GB" dirty="0">
                          <a:latin typeface="Cambria" panose="02040503050406030204" pitchFamily="18" charset="0"/>
                          <a:ea typeface="Cambria" panose="02040503050406030204" pitchFamily="18" charset="0"/>
                          <a:cs typeface="Times New Roman" panose="02020603050405020304" pitchFamily="18" charset="0"/>
                        </a:rPr>
                        <a:t> </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20221CSE0249</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8CSE02</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
        <p:nvSpPr>
          <p:cNvPr id="12" name="Title 1">
            <a:extLst>
              <a:ext uri="{FF2B5EF4-FFF2-40B4-BE49-F238E27FC236}">
                <a16:creationId xmlns:a16="http://schemas.microsoft.com/office/drawing/2014/main" id="{EB8086D8-CC2B-5FF7-723F-109787D48CD0}"/>
              </a:ext>
            </a:extLst>
          </p:cNvPr>
          <p:cNvSpPr txBox="1">
            <a:spLocks/>
          </p:cNvSpPr>
          <p:nvPr/>
        </p:nvSpPr>
        <p:spPr>
          <a:xfrm>
            <a:off x="990600" y="517526"/>
            <a:ext cx="10515600" cy="6799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0070C0"/>
                </a:solidFill>
                <a:latin typeface="Times New Roman" panose="02020603050405020304" pitchFamily="18" charset="0"/>
                <a:cs typeface="Times New Roman" panose="02020603050405020304" pitchFamily="18" charset="0"/>
              </a:rPr>
              <a:t>About Company or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BE2DCAC7-A4C1-8C57-5AE9-ADDDB7CEBAA3}"/>
              </a:ext>
            </a:extLst>
          </p:cNvPr>
          <p:cNvSpPr>
            <a:spLocks noGrp="1"/>
          </p:cNvSpPr>
          <p:nvPr>
            <p:ph idx="1"/>
          </p:nvPr>
        </p:nvSpPr>
        <p:spPr>
          <a:xfrm>
            <a:off x="990600" y="1332412"/>
            <a:ext cx="10515600" cy="4193176"/>
          </a:xfrm>
        </p:spPr>
        <p:txBody>
          <a:bodyPr>
            <a:normAutofit lnSpcReduction="10000"/>
          </a:bodyPr>
          <a:lstStyle/>
          <a:p>
            <a:r>
              <a:rPr lang="en-IN" b="1" dirty="0" err="1"/>
              <a:t>Qwickbit</a:t>
            </a:r>
            <a:r>
              <a:rPr lang="en-IN" b="1" dirty="0"/>
              <a:t> Technologies </a:t>
            </a:r>
            <a:r>
              <a:rPr lang="en-IN" b="1" dirty="0" err="1"/>
              <a:t>Pvt.</a:t>
            </a:r>
            <a:r>
              <a:rPr lang="en-IN" b="1" dirty="0"/>
              <a:t> Ltd.</a:t>
            </a:r>
            <a:endParaRPr lang="en-IN" dirty="0"/>
          </a:p>
          <a:p>
            <a:r>
              <a:rPr lang="en-IN" dirty="0"/>
              <a:t>A technology startup focused on </a:t>
            </a:r>
            <a:r>
              <a:rPr lang="en-IN" b="1" dirty="0"/>
              <a:t>digital solutions</a:t>
            </a:r>
            <a:r>
              <a:rPr lang="en-IN" dirty="0"/>
              <a:t>, </a:t>
            </a:r>
            <a:r>
              <a:rPr lang="en-IN" b="1" dirty="0"/>
              <a:t>software development</a:t>
            </a:r>
            <a:r>
              <a:rPr lang="en-IN" dirty="0"/>
              <a:t>, and </a:t>
            </a:r>
            <a:r>
              <a:rPr lang="en-IN" b="1" dirty="0"/>
              <a:t>business products</a:t>
            </a:r>
            <a:r>
              <a:rPr lang="en-IN" dirty="0"/>
              <a:t>.</a:t>
            </a:r>
          </a:p>
          <a:p>
            <a:r>
              <a:rPr lang="en-IN" dirty="0"/>
              <a:t>Offers services including </a:t>
            </a:r>
            <a:r>
              <a:rPr lang="en-IN" b="1" dirty="0"/>
              <a:t>web &amp; mobile app development</a:t>
            </a:r>
            <a:r>
              <a:rPr lang="en-IN" dirty="0"/>
              <a:t>, </a:t>
            </a:r>
            <a:r>
              <a:rPr lang="en-IN" b="1" dirty="0"/>
              <a:t>UI/UX design</a:t>
            </a:r>
            <a:r>
              <a:rPr lang="en-IN" dirty="0"/>
              <a:t>, </a:t>
            </a:r>
            <a:r>
              <a:rPr lang="en-IN" b="1" dirty="0"/>
              <a:t>content strategy</a:t>
            </a:r>
            <a:r>
              <a:rPr lang="en-IN" dirty="0"/>
              <a:t>, </a:t>
            </a:r>
            <a:r>
              <a:rPr lang="en-IN" b="1" dirty="0"/>
              <a:t>digital marketing</a:t>
            </a:r>
            <a:r>
              <a:rPr lang="en-IN" dirty="0"/>
              <a:t>, </a:t>
            </a:r>
            <a:r>
              <a:rPr lang="en-IN" b="1" dirty="0"/>
              <a:t>AI/ML solutions</a:t>
            </a:r>
            <a:r>
              <a:rPr lang="en-IN" dirty="0"/>
              <a:t>, and </a:t>
            </a:r>
            <a:r>
              <a:rPr lang="en-IN" b="1" dirty="0"/>
              <a:t>enterprise platforms</a:t>
            </a:r>
            <a:r>
              <a:rPr lang="en-IN" dirty="0"/>
              <a:t>.</a:t>
            </a:r>
          </a:p>
          <a:p>
            <a:r>
              <a:rPr lang="en-IN" dirty="0"/>
              <a:t>Vision: To deliver </a:t>
            </a:r>
            <a:r>
              <a:rPr lang="en-IN" b="1" dirty="0"/>
              <a:t>innovative, user-centric digital experiences</a:t>
            </a:r>
            <a:r>
              <a:rPr lang="en-IN" dirty="0"/>
              <a:t> that accelerate business growth.</a:t>
            </a:r>
          </a:p>
          <a:p>
            <a:r>
              <a:rPr lang="en-IN" dirty="0"/>
              <a:t>Mission: To provide </a:t>
            </a:r>
            <a:r>
              <a:rPr lang="en-IN" b="1" dirty="0"/>
              <a:t>fast, reliable, and scalable digital products</a:t>
            </a:r>
            <a:r>
              <a:rPr lang="en-IN" dirty="0"/>
              <a:t> with high quality and customer satisfaction.</a:t>
            </a:r>
          </a:p>
        </p:txBody>
      </p:sp>
      <p:sp>
        <p:nvSpPr>
          <p:cNvPr id="14" name="Slide Number Placeholder 3">
            <a:extLst>
              <a:ext uri="{FF2B5EF4-FFF2-40B4-BE49-F238E27FC236}">
                <a16:creationId xmlns:a16="http://schemas.microsoft.com/office/drawing/2014/main" id="{50522C9A-C97F-C685-4C8E-C430BCCFFEE9}"/>
              </a:ext>
            </a:extLst>
          </p:cNvPr>
          <p:cNvSpPr txBox="1">
            <a:spLocks/>
          </p:cNvSpPr>
          <p:nvPr/>
        </p:nvSpPr>
        <p:spPr>
          <a:xfrm>
            <a:off x="8763000" y="65087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8D2C80-75C3-E263-96F3-BA807FE19AAC}"/>
              </a:ext>
            </a:extLst>
          </p:cNvPr>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10" name="Content Placeholder 2">
            <a:extLst>
              <a:ext uri="{FF2B5EF4-FFF2-40B4-BE49-F238E27FC236}">
                <a16:creationId xmlns:a16="http://schemas.microsoft.com/office/drawing/2014/main" id="{12DE47A0-D181-8CE2-4AE2-312F68B57654}"/>
              </a:ext>
            </a:extLst>
          </p:cNvPr>
          <p:cNvSpPr>
            <a:spLocks noGrp="1"/>
          </p:cNvSpPr>
          <p:nvPr>
            <p:ph idx="1"/>
          </p:nvPr>
        </p:nvSpPr>
        <p:spPr>
          <a:xfrm>
            <a:off x="838200" y="1184367"/>
            <a:ext cx="10515600" cy="4058194"/>
          </a:xfrm>
        </p:spPr>
        <p:txBody>
          <a:bodyPr>
            <a:normAutofit fontScale="92500" lnSpcReduction="20000"/>
          </a:bodyPr>
          <a:lstStyle/>
          <a:p>
            <a:r>
              <a:rPr lang="en-IN" b="1" dirty="0"/>
              <a:t>Primary Domains:</a:t>
            </a:r>
            <a:endParaRPr lang="en-IN" dirty="0"/>
          </a:p>
          <a:p>
            <a:r>
              <a:rPr lang="en-IN" b="1" dirty="0"/>
              <a:t>UI/UX Design</a:t>
            </a:r>
            <a:endParaRPr lang="en-IN" dirty="0"/>
          </a:p>
          <a:p>
            <a:r>
              <a:rPr lang="en-IN" b="1" dirty="0"/>
              <a:t>Web and Mobile App Development</a:t>
            </a:r>
            <a:endParaRPr lang="en-IN" dirty="0"/>
          </a:p>
          <a:p>
            <a:r>
              <a:rPr lang="en-IN" b="1" dirty="0"/>
              <a:t>Content Strategy &amp; Management</a:t>
            </a:r>
            <a:endParaRPr lang="en-IN" dirty="0"/>
          </a:p>
          <a:p>
            <a:r>
              <a:rPr lang="en-IN" b="1" dirty="0"/>
              <a:t>Digital Marketing</a:t>
            </a:r>
            <a:endParaRPr lang="en-IN" dirty="0"/>
          </a:p>
          <a:p>
            <a:r>
              <a:rPr lang="en-IN" b="1" dirty="0"/>
              <a:t>Product Research &amp; Innovation</a:t>
            </a:r>
            <a:endParaRPr lang="en-IN" dirty="0"/>
          </a:p>
          <a:p>
            <a:r>
              <a:rPr lang="en-IN" b="1" dirty="0"/>
              <a:t>Key Technologies Used:</a:t>
            </a:r>
            <a:endParaRPr lang="en-IN" dirty="0"/>
          </a:p>
          <a:p>
            <a:r>
              <a:rPr lang="en-IN" b="1" dirty="0"/>
              <a:t>Figma</a:t>
            </a:r>
            <a:r>
              <a:rPr lang="en-IN" dirty="0"/>
              <a:t> (for UI/UX design &amp; prototyping)</a:t>
            </a:r>
          </a:p>
          <a:p>
            <a:r>
              <a:rPr lang="en-IN" b="1" dirty="0"/>
              <a:t>HTML/CSS/JavaScript</a:t>
            </a:r>
            <a:endParaRPr lang="en-IN" dirty="0"/>
          </a:p>
          <a:p>
            <a:r>
              <a:rPr lang="en-IN" b="1" dirty="0"/>
              <a:t>React / Flutter / Angular</a:t>
            </a:r>
            <a:r>
              <a:rPr lang="en-IN" dirty="0"/>
              <a:t> (depending on project needs)</a:t>
            </a:r>
          </a:p>
        </p:txBody>
      </p:sp>
      <p:sp>
        <p:nvSpPr>
          <p:cNvPr id="11" name="Slide Number Placeholder 3">
            <a:extLst>
              <a:ext uri="{FF2B5EF4-FFF2-40B4-BE49-F238E27FC236}">
                <a16:creationId xmlns:a16="http://schemas.microsoft.com/office/drawing/2014/main" id="{03F26CC4-9878-1634-2712-5CFC4928F442}"/>
              </a:ext>
            </a:extLst>
          </p:cNvPr>
          <p:cNvSpPr>
            <a:spLocks noGrp="1"/>
          </p:cNvSpPr>
          <p:nvPr>
            <p:ph type="sldNum" sz="quarter" idx="12"/>
          </p:nvPr>
        </p:nvSpPr>
        <p:spPr>
          <a:xfrm>
            <a:off x="8610600" y="6356350"/>
            <a:ext cx="2743200" cy="365125"/>
          </a:xfrm>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GB" dirty="0"/>
              <a:t>I am working as part of a </a:t>
            </a:r>
            <a:r>
              <a:rPr lang="en-GB" b="1" dirty="0"/>
              <a:t>development team</a:t>
            </a:r>
            <a:r>
              <a:rPr lang="en-GB" dirty="0"/>
              <a:t> consisting of:</a:t>
            </a:r>
          </a:p>
          <a:p>
            <a:r>
              <a:rPr lang="en-GB" dirty="0"/>
              <a:t>Frontend developers</a:t>
            </a:r>
          </a:p>
          <a:p>
            <a:r>
              <a:rPr lang="en-GB" dirty="0"/>
              <a:t>Backend developers</a:t>
            </a:r>
          </a:p>
          <a:p>
            <a:r>
              <a:rPr lang="en-GB" dirty="0"/>
              <a:t>UI/UX designers</a:t>
            </a:r>
          </a:p>
          <a:p>
            <a:r>
              <a:rPr lang="en-GB" dirty="0"/>
              <a:t>QA/Test engineers</a:t>
            </a:r>
          </a:p>
          <a:p>
            <a:r>
              <a:rPr lang="en-GB" dirty="0"/>
              <a:t>I report to Pradeep Ramesh who assigns tasks, reviews progress, and provides guidance.</a:t>
            </a:r>
            <a:br>
              <a:rPr lang="en-GB" dirty="0"/>
            </a:br>
            <a:r>
              <a:rPr lang="en-GB" dirty="0"/>
              <a:t>The team follows a </a:t>
            </a:r>
            <a:r>
              <a:rPr lang="en-GB" b="1" dirty="0"/>
              <a:t>collaborative work culture</a:t>
            </a:r>
            <a:r>
              <a:rPr lang="en-GB" dirty="0"/>
              <a:t> with regular discussions and feedback sessions.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lstStyle/>
          <a:p>
            <a:r>
              <a:rPr lang="en-GB" dirty="0"/>
              <a:t>Searching for the right internship opportunity</a:t>
            </a:r>
          </a:p>
          <a:p>
            <a:r>
              <a:rPr lang="en-IN" dirty="0"/>
              <a:t>Understanding the </a:t>
            </a:r>
            <a:r>
              <a:rPr lang="en-IN" b="1" dirty="0"/>
              <a:t>company workflow</a:t>
            </a:r>
          </a:p>
          <a:p>
            <a:r>
              <a:rPr lang="en-GB" dirty="0"/>
              <a:t>Understanding corporate work culture.</a:t>
            </a:r>
          </a:p>
          <a:p>
            <a:r>
              <a:rPr lang="en-GB" dirty="0"/>
              <a:t>Learning professional tools and systems.</a:t>
            </a:r>
          </a:p>
          <a:p>
            <a:endParaRPr lang="en-GB"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r>
              <a:rPr lang="en-GB" dirty="0"/>
              <a:t>The main objectives of my internship work are:</a:t>
            </a:r>
          </a:p>
          <a:p>
            <a:r>
              <a:rPr lang="en-GB" dirty="0"/>
              <a:t>To gain practical exposure to </a:t>
            </a:r>
            <a:r>
              <a:rPr lang="en-GB" b="1" dirty="0"/>
              <a:t>web development</a:t>
            </a:r>
            <a:endParaRPr lang="en-GB" dirty="0"/>
          </a:p>
          <a:p>
            <a:r>
              <a:rPr lang="en-GB" dirty="0"/>
              <a:t>To understand real-world software development workflows</a:t>
            </a:r>
          </a:p>
          <a:p>
            <a:r>
              <a:rPr lang="en-GB" dirty="0"/>
              <a:t>To apply theoretical knowledge to live projects</a:t>
            </a:r>
          </a:p>
          <a:p>
            <a:r>
              <a:rPr lang="en-GB" dirty="0"/>
              <a:t>To improve coding, debugging, and teamwork skills</a:t>
            </a:r>
          </a:p>
          <a:p>
            <a:r>
              <a:rPr lang="en-GB" dirty="0"/>
              <a:t>To contribute effectively to assigned project modules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fontScale="85000" lnSpcReduction="20000"/>
          </a:bodyPr>
          <a:lstStyle/>
          <a:p>
            <a:r>
              <a:rPr lang="en-IN" dirty="0"/>
              <a:t>UI/UX principles: heuristics, usability, accessibility</a:t>
            </a:r>
          </a:p>
          <a:p>
            <a:r>
              <a:rPr lang="en-IN" dirty="0"/>
              <a:t>Design systems and consistency</a:t>
            </a:r>
          </a:p>
          <a:p>
            <a:r>
              <a:rPr lang="en-IN" dirty="0"/>
              <a:t>Figma resources and community tutorials</a:t>
            </a:r>
          </a:p>
          <a:p>
            <a:r>
              <a:rPr lang="en-IN" dirty="0"/>
              <a:t>Content frameworks (AIDA, UX writing best practices)</a:t>
            </a:r>
          </a:p>
          <a:p>
            <a:r>
              <a:rPr lang="en-IN" dirty="0"/>
              <a:t>Competitor website research:</a:t>
            </a:r>
          </a:p>
          <a:p>
            <a:pPr lvl="1"/>
            <a:r>
              <a:rPr lang="en-IN" dirty="0"/>
              <a:t>UX patterns</a:t>
            </a:r>
          </a:p>
          <a:p>
            <a:pPr lvl="1"/>
            <a:r>
              <a:rPr lang="en-IN" dirty="0"/>
              <a:t>Layout trends</a:t>
            </a:r>
          </a:p>
          <a:p>
            <a:pPr lvl="1"/>
            <a:r>
              <a:rPr lang="en-IN" dirty="0"/>
              <a:t>Messaging strategy</a:t>
            </a:r>
          </a:p>
          <a:p>
            <a:r>
              <a:rPr lang="en-IN" b="1" dirty="0"/>
              <a:t>References:</a:t>
            </a:r>
            <a:endParaRPr lang="en-IN" dirty="0"/>
          </a:p>
          <a:p>
            <a:r>
              <a:rPr lang="en-IN" dirty="0"/>
              <a:t>Figma official documentation &amp; video guides</a:t>
            </a:r>
          </a:p>
          <a:p>
            <a:r>
              <a:rPr lang="en-IN" dirty="0"/>
              <a:t>Design blogs (UX Collective, Smashing Magazine)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IN" b="1" dirty="0"/>
              <a:t>Your Internship Deliverables:</a:t>
            </a:r>
            <a:br>
              <a:rPr lang="en-IN" dirty="0"/>
            </a:br>
            <a:r>
              <a:rPr lang="en-IN" dirty="0"/>
              <a:t>📌 A </a:t>
            </a:r>
            <a:r>
              <a:rPr lang="en-IN" b="1" dirty="0"/>
              <a:t>UI/UX prototype</a:t>
            </a:r>
            <a:r>
              <a:rPr lang="en-IN" dirty="0"/>
              <a:t> (Figma) for the company website</a:t>
            </a:r>
            <a:br>
              <a:rPr lang="en-IN" dirty="0"/>
            </a:br>
            <a:r>
              <a:rPr lang="en-IN" dirty="0"/>
              <a:t>📌 </a:t>
            </a:r>
            <a:r>
              <a:rPr lang="en-IN" b="1" dirty="0"/>
              <a:t>Content structure and drafts</a:t>
            </a:r>
            <a:r>
              <a:rPr lang="en-IN" dirty="0"/>
              <a:t> for navigation pages</a:t>
            </a:r>
            <a:br>
              <a:rPr lang="en-IN" dirty="0"/>
            </a:br>
            <a:r>
              <a:rPr lang="en-IN" dirty="0"/>
              <a:t>📌 Interactive design flows</a:t>
            </a:r>
            <a:br>
              <a:rPr lang="en-IN" dirty="0"/>
            </a:br>
            <a:r>
              <a:rPr lang="en-IN" dirty="0"/>
              <a:t>📌 Style guide – </a:t>
            </a:r>
            <a:r>
              <a:rPr lang="en-IN" dirty="0" err="1"/>
              <a:t>colors</a:t>
            </a:r>
            <a:r>
              <a:rPr lang="en-IN" dirty="0"/>
              <a:t>, typography, components</a:t>
            </a:r>
          </a:p>
          <a:p>
            <a:r>
              <a:rPr lang="en-IN" b="1" dirty="0"/>
              <a:t>Tools Used:</a:t>
            </a:r>
            <a:endParaRPr lang="en-IN" dirty="0"/>
          </a:p>
          <a:p>
            <a:r>
              <a:rPr lang="en-IN" b="1" dirty="0"/>
              <a:t>Figma – Main Design</a:t>
            </a:r>
            <a:endParaRPr lang="en-IN" dirty="0"/>
          </a:p>
          <a:p>
            <a:r>
              <a:rPr lang="en-IN" b="1" dirty="0"/>
              <a:t>Notion– Task &amp; Content organization</a:t>
            </a:r>
            <a:endParaRPr lang="en-IN" dirty="0"/>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lstStyle/>
          <a:p>
            <a:r>
              <a:rPr lang="en-GB" b="1" dirty="0"/>
              <a:t>Problem Identified:</a:t>
            </a:r>
            <a:endParaRPr lang="en-GB" dirty="0"/>
          </a:p>
          <a:p>
            <a:r>
              <a:rPr lang="en-GB" dirty="0"/>
              <a:t>Company website lacked a </a:t>
            </a:r>
            <a:r>
              <a:rPr lang="en-GB" b="1" dirty="0"/>
              <a:t>strong visual identity</a:t>
            </a:r>
            <a:r>
              <a:rPr lang="en-GB" dirty="0"/>
              <a:t> and </a:t>
            </a:r>
            <a:r>
              <a:rPr lang="en-GB" b="1" dirty="0"/>
              <a:t>user-centric content</a:t>
            </a:r>
            <a:r>
              <a:rPr lang="en-GB" dirty="0"/>
              <a:t> to explain services.</a:t>
            </a:r>
          </a:p>
          <a:p>
            <a:r>
              <a:rPr lang="en-GB" b="1" dirty="0"/>
              <a:t>Core Issues:</a:t>
            </a:r>
            <a:endParaRPr lang="en-GB" dirty="0"/>
          </a:p>
          <a:p>
            <a:r>
              <a:rPr lang="en-GB" dirty="0"/>
              <a:t>Inconsistent design flow</a:t>
            </a:r>
          </a:p>
          <a:p>
            <a:r>
              <a:rPr lang="en-GB" dirty="0"/>
              <a:t>Insufficient content structure</a:t>
            </a:r>
          </a:p>
          <a:p>
            <a:r>
              <a:rPr lang="en-GB" dirty="0"/>
              <a:t>Low engagement due to unclear messaging</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rmAutofit fontScale="70000" lnSpcReduction="20000"/>
          </a:bodyPr>
          <a:lstStyle/>
          <a:p>
            <a:r>
              <a:rPr lang="en-IN" b="1" dirty="0"/>
              <a:t>Hardware:</a:t>
            </a:r>
            <a:endParaRPr lang="en-IN" dirty="0"/>
          </a:p>
          <a:p>
            <a:r>
              <a:rPr lang="en-IN" dirty="0"/>
              <a:t>Laptop/Desktop</a:t>
            </a:r>
          </a:p>
          <a:p>
            <a:r>
              <a:rPr lang="en-IN" dirty="0"/>
              <a:t>Stable Internet</a:t>
            </a:r>
          </a:p>
          <a:p>
            <a:r>
              <a:rPr lang="en-IN" b="1" dirty="0"/>
              <a:t>Software/Tools:</a:t>
            </a:r>
            <a:endParaRPr lang="en-IN" dirty="0"/>
          </a:p>
          <a:p>
            <a:r>
              <a:rPr lang="en-IN" b="1" dirty="0"/>
              <a:t>Figma</a:t>
            </a:r>
            <a:endParaRPr lang="en-IN" dirty="0"/>
          </a:p>
          <a:p>
            <a:r>
              <a:rPr lang="en-IN" b="1" dirty="0"/>
              <a:t>Chrome/Browser</a:t>
            </a:r>
            <a:endParaRPr lang="en-IN" dirty="0"/>
          </a:p>
          <a:p>
            <a:r>
              <a:rPr lang="en-IN" b="1" dirty="0"/>
              <a:t>Notion / Google Drive (for content &amp; collaboration)</a:t>
            </a:r>
            <a:endParaRPr lang="en-IN" dirty="0"/>
          </a:p>
          <a:p>
            <a:r>
              <a:rPr lang="en-IN" b="1" dirty="0"/>
              <a:t>Design Resources:</a:t>
            </a:r>
            <a:endParaRPr lang="en-IN" dirty="0"/>
          </a:p>
          <a:p>
            <a:r>
              <a:rPr lang="en-IN" dirty="0"/>
              <a:t>UI Kits</a:t>
            </a:r>
          </a:p>
          <a:p>
            <a:r>
              <a:rPr lang="en-IN" dirty="0"/>
              <a:t>Icon libraries</a:t>
            </a:r>
          </a:p>
          <a:p>
            <a:r>
              <a:rPr lang="en-IN" dirty="0"/>
              <a:t>Typography system</a:t>
            </a:r>
          </a:p>
          <a:p>
            <a:r>
              <a:rPr lang="en-IN" dirty="0"/>
              <a:t>UX research references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12869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lstStyle/>
          <a:p>
            <a:r>
              <a:rPr lang="en-IN" dirty="0"/>
              <a:t>✔️ Improved visual hierarchy</a:t>
            </a:r>
            <a:br>
              <a:rPr lang="en-IN" dirty="0"/>
            </a:br>
            <a:r>
              <a:rPr lang="en-IN" dirty="0"/>
              <a:t>✔️ Consistent branding</a:t>
            </a:r>
            <a:br>
              <a:rPr lang="en-IN" dirty="0"/>
            </a:br>
            <a:r>
              <a:rPr lang="en-IN" dirty="0"/>
              <a:t>✔️ Enhanced content clarity</a:t>
            </a:r>
            <a:br>
              <a:rPr lang="en-IN" dirty="0"/>
            </a:br>
            <a:r>
              <a:rPr lang="en-IN" dirty="0"/>
              <a:t>✔️ Better user navigation and engagement</a:t>
            </a:r>
            <a:br>
              <a:rPr lang="en-IN" dirty="0"/>
            </a:br>
            <a:r>
              <a:rPr lang="en-IN" dirty="0"/>
              <a:t>✔️ Scalable design system</a:t>
            </a:r>
          </a:p>
          <a:p>
            <a:r>
              <a:rPr lang="en-IN" b="1" dirty="0"/>
              <a:t>Business Benefits:</a:t>
            </a:r>
            <a:br>
              <a:rPr lang="en-IN" dirty="0"/>
            </a:br>
            <a:r>
              <a:rPr lang="en-IN" dirty="0"/>
              <a:t>➡️ More professional online presence</a:t>
            </a:r>
            <a:br>
              <a:rPr lang="en-IN" dirty="0"/>
            </a:br>
            <a:r>
              <a:rPr lang="en-IN" dirty="0"/>
              <a:t>➡️ Clearer service communication</a:t>
            </a:r>
            <a:br>
              <a:rPr lang="en-IN" dirty="0"/>
            </a:br>
            <a:r>
              <a:rPr lang="en-IN" dirty="0"/>
              <a:t>➡️ Increased conversions / leads</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224665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3" name="Content Placeholder 2"/>
          <p:cNvSpPr>
            <a:spLocks noGrp="1"/>
          </p:cNvSpPr>
          <p:nvPr>
            <p:ph idx="1"/>
          </p:nvPr>
        </p:nvSpPr>
        <p:spPr>
          <a:xfrm>
            <a:off x="838200" y="1184367"/>
            <a:ext cx="10515600" cy="4058194"/>
          </a:xfrm>
        </p:spPr>
        <p:txBody>
          <a:bodyPr>
            <a:normAutofit fontScale="85000" lnSpcReduction="20000"/>
          </a:bodyPr>
          <a:lstStyle/>
          <a:p>
            <a:r>
              <a:rPr lang="en-IN" b="1" dirty="0"/>
              <a:t>Gardening &amp; Aquarium E-Commerce Website</a:t>
            </a:r>
          </a:p>
          <a:p>
            <a:r>
              <a:rPr lang="en-IN" dirty="0"/>
              <a:t>The system design defines the structure, workflow, and visual architecture of the proposed e-commerce websites. The design focuses on usability, scalability, and consistent branding while ensuring a smooth user experience.</a:t>
            </a:r>
          </a:p>
          <a:p>
            <a:pPr marL="0" indent="0">
              <a:buNone/>
            </a:pPr>
            <a:endParaRPr lang="en-IN" dirty="0"/>
          </a:p>
          <a:p>
            <a:r>
              <a:rPr lang="en-IN" b="1" dirty="0"/>
              <a:t>1️⃣ Architecture Design</a:t>
            </a:r>
          </a:p>
          <a:p>
            <a:r>
              <a:rPr lang="en-IN" dirty="0"/>
              <a:t>The system follows a structured e-commerce workflow:</a:t>
            </a:r>
          </a:p>
          <a:p>
            <a:r>
              <a:rPr lang="en-IN" dirty="0"/>
              <a:t>User → Home Page → Category Pages → Product Page → Cart → Checkout → Payment → Order Confirmation → User Profile</a:t>
            </a:r>
          </a:p>
          <a:p>
            <a:r>
              <a:rPr lang="en-IN" dirty="0"/>
              <a:t>This structured flow ensures smooth navigation from product discovery to successful purchase completion.</a:t>
            </a:r>
            <a:br>
              <a:rPr lang="en-IN" dirty="0"/>
            </a:b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36543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BFEF0-53F5-FE47-4A4B-D5497F5C5F23}"/>
              </a:ext>
            </a:extLst>
          </p:cNvPr>
          <p:cNvSpPr>
            <a:spLocks noGrp="1"/>
          </p:cNvSpPr>
          <p:nvPr>
            <p:ph idx="1"/>
          </p:nvPr>
        </p:nvSpPr>
        <p:spPr>
          <a:xfrm>
            <a:off x="468331" y="222856"/>
            <a:ext cx="10515600" cy="4351338"/>
          </a:xfrm>
        </p:spPr>
        <p:txBody>
          <a:bodyPr>
            <a:normAutofit fontScale="77500" lnSpcReduction="20000"/>
          </a:bodyPr>
          <a:lstStyle/>
          <a:p>
            <a:endParaRPr lang="en-IN" dirty="0"/>
          </a:p>
          <a:p>
            <a:r>
              <a:rPr lang="en-IN" b="1" dirty="0"/>
              <a:t>2️⃣ Page Structure Design</a:t>
            </a:r>
          </a:p>
          <a:p>
            <a:r>
              <a:rPr lang="en-IN" dirty="0"/>
              <a:t>The following pages were planned and designed:</a:t>
            </a:r>
          </a:p>
          <a:p>
            <a:r>
              <a:rPr lang="en-IN" dirty="0"/>
              <a:t>• Home Page</a:t>
            </a:r>
            <a:br>
              <a:rPr lang="en-IN" dirty="0"/>
            </a:br>
            <a:r>
              <a:rPr lang="en-IN" dirty="0"/>
              <a:t>• About Us Page</a:t>
            </a:r>
            <a:br>
              <a:rPr lang="en-IN" dirty="0"/>
            </a:br>
            <a:r>
              <a:rPr lang="en-IN" dirty="0"/>
              <a:t>• Category Pages (Indoor Plants, Plastic Pots, Flower Seeds / Aquarium Categories)</a:t>
            </a:r>
            <a:br>
              <a:rPr lang="en-IN" dirty="0"/>
            </a:br>
            <a:r>
              <a:rPr lang="en-IN" dirty="0"/>
              <a:t>• Product Listing &amp; Product Detail Pages</a:t>
            </a:r>
            <a:br>
              <a:rPr lang="en-IN" dirty="0"/>
            </a:br>
            <a:r>
              <a:rPr lang="en-IN" dirty="0"/>
              <a:t>• Cart Page</a:t>
            </a:r>
            <a:br>
              <a:rPr lang="en-IN" dirty="0"/>
            </a:br>
            <a:r>
              <a:rPr lang="en-IN" dirty="0"/>
              <a:t>• Checkout Page</a:t>
            </a:r>
            <a:br>
              <a:rPr lang="en-IN" dirty="0"/>
            </a:br>
            <a:r>
              <a:rPr lang="en-IN" dirty="0"/>
              <a:t>• Payment Page</a:t>
            </a:r>
            <a:br>
              <a:rPr lang="en-IN" dirty="0"/>
            </a:br>
            <a:r>
              <a:rPr lang="en-IN" dirty="0"/>
              <a:t>• Login / Signup Pages</a:t>
            </a:r>
            <a:br>
              <a:rPr lang="en-IN" dirty="0"/>
            </a:br>
            <a:r>
              <a:rPr lang="en-IN" dirty="0"/>
              <a:t>• User Profile Page</a:t>
            </a:r>
            <a:br>
              <a:rPr lang="en-IN" dirty="0"/>
            </a:br>
            <a:r>
              <a:rPr lang="en-IN" dirty="0"/>
              <a:t>• Order Success Page</a:t>
            </a:r>
          </a:p>
          <a:p>
            <a:r>
              <a:rPr lang="en-IN" dirty="0"/>
              <a:t>Each page was structured using a grid-based layout to maintain alignment and visual consistency.</a:t>
            </a:r>
          </a:p>
          <a:p>
            <a:endParaRPr lang="en-IN" dirty="0"/>
          </a:p>
        </p:txBody>
      </p:sp>
      <p:sp>
        <p:nvSpPr>
          <p:cNvPr id="4" name="Date Placeholder 3">
            <a:extLst>
              <a:ext uri="{FF2B5EF4-FFF2-40B4-BE49-F238E27FC236}">
                <a16:creationId xmlns:a16="http://schemas.microsoft.com/office/drawing/2014/main" id="{5D6B91E1-9740-9B54-6082-228E3FAE6D98}"/>
              </a:ext>
            </a:extLst>
          </p:cNvPr>
          <p:cNvSpPr>
            <a:spLocks noGrp="1"/>
          </p:cNvSpPr>
          <p:nvPr>
            <p:ph type="dt" sz="half" idx="10"/>
          </p:nvPr>
        </p:nvSpPr>
        <p:spPr/>
        <p:txBody>
          <a:bodyPr/>
          <a:lstStyle/>
          <a:p>
            <a:fld id="{864BFFB7-4443-4602-A990-B076C1CFE86C}" type="datetime1">
              <a:rPr lang="en-IN" smtClean="0"/>
              <a:pPr/>
              <a:t>07-04-2026</a:t>
            </a:fld>
            <a:endParaRPr lang="en-IN" dirty="0"/>
          </a:p>
        </p:txBody>
      </p:sp>
      <p:sp>
        <p:nvSpPr>
          <p:cNvPr id="5" name="Slide Number Placeholder 4">
            <a:extLst>
              <a:ext uri="{FF2B5EF4-FFF2-40B4-BE49-F238E27FC236}">
                <a16:creationId xmlns:a16="http://schemas.microsoft.com/office/drawing/2014/main" id="{F670E446-C320-D53C-EAAC-ACD132FF9CC9}"/>
              </a:ext>
            </a:extLst>
          </p:cNvPr>
          <p:cNvSpPr>
            <a:spLocks noGrp="1"/>
          </p:cNvSpPr>
          <p:nvPr>
            <p:ph type="sldNum" sz="quarter" idx="12"/>
          </p:nvPr>
        </p:nvSpPr>
        <p:spPr/>
        <p:txBody>
          <a:bodyPr/>
          <a:lstStyle/>
          <a:p>
            <a:fld id="{F32F6845-8F47-4AB8-B9CE-96D88E741707}" type="slidenum">
              <a:rPr lang="en-IN" smtClean="0"/>
              <a:pPr/>
              <a:t>14</a:t>
            </a:fld>
            <a:endParaRPr lang="en-IN" dirty="0"/>
          </a:p>
        </p:txBody>
      </p:sp>
    </p:spTree>
    <p:extLst>
      <p:ext uri="{BB962C8B-B14F-4D97-AF65-F5344CB8AC3E}">
        <p14:creationId xmlns:p14="http://schemas.microsoft.com/office/powerpoint/2010/main" val="88686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BC4D64-CD8D-D179-7E2D-7253BBFC5B85}"/>
              </a:ext>
            </a:extLst>
          </p:cNvPr>
          <p:cNvSpPr>
            <a:spLocks noGrp="1"/>
          </p:cNvSpPr>
          <p:nvPr>
            <p:ph idx="1"/>
          </p:nvPr>
        </p:nvSpPr>
        <p:spPr>
          <a:xfrm>
            <a:off x="756007" y="531081"/>
            <a:ext cx="10515600" cy="4351338"/>
          </a:xfrm>
        </p:spPr>
        <p:txBody>
          <a:bodyPr>
            <a:normAutofit fontScale="92500" lnSpcReduction="20000"/>
          </a:bodyPr>
          <a:lstStyle/>
          <a:p>
            <a:r>
              <a:rPr lang="en-GB" b="1" dirty="0"/>
              <a:t>3️⃣ UI Component Design</a:t>
            </a:r>
          </a:p>
          <a:p>
            <a:r>
              <a:rPr lang="en-GB" dirty="0"/>
              <a:t>The system uses reusable UI components to ensure consistency and scalability:</a:t>
            </a:r>
          </a:p>
          <a:p>
            <a:r>
              <a:rPr lang="en-GB" dirty="0"/>
              <a:t>• Navigation Bar</a:t>
            </a:r>
            <a:br>
              <a:rPr lang="en-GB" dirty="0"/>
            </a:br>
            <a:r>
              <a:rPr lang="en-GB" dirty="0"/>
              <a:t>• Hero Section</a:t>
            </a:r>
            <a:br>
              <a:rPr lang="en-GB" dirty="0"/>
            </a:br>
            <a:r>
              <a:rPr lang="en-GB" dirty="0"/>
              <a:t>• Product Cards</a:t>
            </a:r>
            <a:br>
              <a:rPr lang="en-GB" dirty="0"/>
            </a:br>
            <a:r>
              <a:rPr lang="en-GB" dirty="0"/>
              <a:t>• Category Cards</a:t>
            </a:r>
            <a:br>
              <a:rPr lang="en-GB" dirty="0"/>
            </a:br>
            <a:r>
              <a:rPr lang="en-GB" dirty="0"/>
              <a:t>• Call-To-Action Buttons</a:t>
            </a:r>
            <a:br>
              <a:rPr lang="en-GB" dirty="0"/>
            </a:br>
            <a:r>
              <a:rPr lang="en-GB" dirty="0"/>
              <a:t>• Forms (Login, Signup, Checkout)</a:t>
            </a:r>
            <a:br>
              <a:rPr lang="en-GB" dirty="0"/>
            </a:br>
            <a:r>
              <a:rPr lang="en-GB" dirty="0"/>
              <a:t>• Testimonial Cards</a:t>
            </a:r>
            <a:br>
              <a:rPr lang="en-GB" dirty="0"/>
            </a:br>
            <a:r>
              <a:rPr lang="en-GB" dirty="0"/>
              <a:t>• Footer Section</a:t>
            </a:r>
          </a:p>
          <a:p>
            <a:r>
              <a:rPr lang="en-GB" dirty="0"/>
              <a:t>These components follow a modular design approach to allow easy updates and expansion in future development.</a:t>
            </a:r>
          </a:p>
          <a:p>
            <a:pPr marL="0" indent="0">
              <a:buNone/>
            </a:pPr>
            <a:endParaRPr lang="en-GB" b="1" dirty="0"/>
          </a:p>
          <a:p>
            <a:endParaRPr lang="en-IN" dirty="0"/>
          </a:p>
        </p:txBody>
      </p:sp>
      <p:sp>
        <p:nvSpPr>
          <p:cNvPr id="4" name="Date Placeholder 3">
            <a:extLst>
              <a:ext uri="{FF2B5EF4-FFF2-40B4-BE49-F238E27FC236}">
                <a16:creationId xmlns:a16="http://schemas.microsoft.com/office/drawing/2014/main" id="{6B2F0DB5-0EAD-716E-1677-36EAC4EB8A18}"/>
              </a:ext>
            </a:extLst>
          </p:cNvPr>
          <p:cNvSpPr>
            <a:spLocks noGrp="1"/>
          </p:cNvSpPr>
          <p:nvPr>
            <p:ph type="dt" sz="half" idx="10"/>
          </p:nvPr>
        </p:nvSpPr>
        <p:spPr/>
        <p:txBody>
          <a:bodyPr/>
          <a:lstStyle/>
          <a:p>
            <a:fld id="{864BFFB7-4443-4602-A990-B076C1CFE86C}" type="datetime1">
              <a:rPr lang="en-IN" smtClean="0"/>
              <a:pPr/>
              <a:t>07-04-2026</a:t>
            </a:fld>
            <a:endParaRPr lang="en-IN" dirty="0"/>
          </a:p>
        </p:txBody>
      </p:sp>
      <p:sp>
        <p:nvSpPr>
          <p:cNvPr id="5" name="Slide Number Placeholder 4">
            <a:extLst>
              <a:ext uri="{FF2B5EF4-FFF2-40B4-BE49-F238E27FC236}">
                <a16:creationId xmlns:a16="http://schemas.microsoft.com/office/drawing/2014/main" id="{7BE08842-5203-6953-14C5-1F21DF4E8A8B}"/>
              </a:ext>
            </a:extLst>
          </p:cNvPr>
          <p:cNvSpPr>
            <a:spLocks noGrp="1"/>
          </p:cNvSpPr>
          <p:nvPr>
            <p:ph type="sldNum" sz="quarter" idx="12"/>
          </p:nvPr>
        </p:nvSpPr>
        <p:spPr/>
        <p:txBody>
          <a:bodyPr/>
          <a:lstStyle/>
          <a:p>
            <a:fld id="{F32F6845-8F47-4AB8-B9CE-96D88E741707}" type="slidenum">
              <a:rPr lang="en-IN" smtClean="0"/>
              <a:pPr/>
              <a:t>15</a:t>
            </a:fld>
            <a:endParaRPr lang="en-IN" dirty="0"/>
          </a:p>
        </p:txBody>
      </p:sp>
    </p:spTree>
    <p:extLst>
      <p:ext uri="{BB962C8B-B14F-4D97-AF65-F5344CB8AC3E}">
        <p14:creationId xmlns:p14="http://schemas.microsoft.com/office/powerpoint/2010/main" val="1226677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DBB963-D748-A8B4-B1E6-BC4E817AEC9C}"/>
              </a:ext>
            </a:extLst>
          </p:cNvPr>
          <p:cNvSpPr>
            <a:spLocks noGrp="1"/>
          </p:cNvSpPr>
          <p:nvPr>
            <p:ph idx="1"/>
          </p:nvPr>
        </p:nvSpPr>
        <p:spPr>
          <a:xfrm>
            <a:off x="699304" y="495056"/>
            <a:ext cx="10515600" cy="5060792"/>
          </a:xfrm>
        </p:spPr>
        <p:txBody>
          <a:bodyPr>
            <a:noAutofit/>
          </a:bodyPr>
          <a:lstStyle/>
          <a:p>
            <a:r>
              <a:rPr lang="en-GB" sz="1400" b="1" dirty="0"/>
              <a:t>4️⃣ Design System</a:t>
            </a:r>
          </a:p>
          <a:p>
            <a:r>
              <a:rPr lang="en-GB" sz="1400" dirty="0"/>
              <a:t>A consistent design system was created including:</a:t>
            </a:r>
          </a:p>
          <a:p>
            <a:r>
              <a:rPr lang="en-GB" sz="1400" dirty="0"/>
              <a:t>• Defined </a:t>
            </a:r>
            <a:r>
              <a:rPr lang="en-GB" sz="1400" dirty="0" err="1"/>
              <a:t>color</a:t>
            </a:r>
            <a:r>
              <a:rPr lang="en-GB" sz="1400" dirty="0"/>
              <a:t> palette (Green theme for Gardening, Blue ocean theme for Aquarium)</a:t>
            </a:r>
            <a:br>
              <a:rPr lang="en-GB" sz="1400" dirty="0"/>
            </a:br>
            <a:r>
              <a:rPr lang="en-GB" sz="1400" dirty="0"/>
              <a:t>• Typography hierarchy (Headings, Subheadings, Body Text)</a:t>
            </a:r>
            <a:br>
              <a:rPr lang="en-GB" sz="1400" dirty="0"/>
            </a:br>
            <a:r>
              <a:rPr lang="en-GB" sz="1400" dirty="0"/>
              <a:t>• Standardized button styles</a:t>
            </a:r>
            <a:br>
              <a:rPr lang="en-GB" sz="1400" dirty="0"/>
            </a:br>
            <a:r>
              <a:rPr lang="en-GB" sz="1400" dirty="0"/>
              <a:t>• Spacing and alignment guidelines</a:t>
            </a:r>
            <a:br>
              <a:rPr lang="en-GB" sz="1400" dirty="0"/>
            </a:br>
            <a:r>
              <a:rPr lang="en-GB" sz="1400" dirty="0"/>
              <a:t>• Iconography and visual assets</a:t>
            </a:r>
          </a:p>
          <a:p>
            <a:r>
              <a:rPr lang="en-GB" sz="1400" dirty="0"/>
              <a:t>This ensures uniform branding and professional visual identity across all pages.</a:t>
            </a:r>
            <a:br>
              <a:rPr lang="en-GB" sz="1400" dirty="0"/>
            </a:br>
            <a:endParaRPr lang="en-GB" sz="1400" dirty="0"/>
          </a:p>
          <a:p>
            <a:r>
              <a:rPr lang="en-GB" sz="1400" b="1" dirty="0"/>
              <a:t>5️⃣ User Flow Design</a:t>
            </a:r>
          </a:p>
          <a:p>
            <a:r>
              <a:rPr lang="en-GB" sz="1400" dirty="0"/>
              <a:t>The user journey was carefully mapped to ensure clarity and ease of navigation:</a:t>
            </a:r>
          </a:p>
          <a:p>
            <a:r>
              <a:rPr lang="en-GB" sz="1400" dirty="0"/>
              <a:t>• User visits homepage</a:t>
            </a:r>
            <a:br>
              <a:rPr lang="en-GB" sz="1400" dirty="0"/>
            </a:br>
            <a:r>
              <a:rPr lang="en-GB" sz="1400" dirty="0"/>
              <a:t>• Browses categories</a:t>
            </a:r>
            <a:br>
              <a:rPr lang="en-GB" sz="1400" dirty="0"/>
            </a:br>
            <a:r>
              <a:rPr lang="en-GB" sz="1400" dirty="0"/>
              <a:t>• Views product details</a:t>
            </a:r>
            <a:br>
              <a:rPr lang="en-GB" sz="1400" dirty="0"/>
            </a:br>
            <a:r>
              <a:rPr lang="en-GB" sz="1400" dirty="0"/>
              <a:t>• Adds product to cart</a:t>
            </a:r>
            <a:br>
              <a:rPr lang="en-GB" sz="1400" dirty="0"/>
            </a:br>
            <a:r>
              <a:rPr lang="en-GB" sz="1400" dirty="0"/>
              <a:t>• Completes checkout process</a:t>
            </a:r>
            <a:br>
              <a:rPr lang="en-GB" sz="1400" dirty="0"/>
            </a:br>
            <a:r>
              <a:rPr lang="en-GB" sz="1400" dirty="0"/>
              <a:t>• Makes payment</a:t>
            </a:r>
            <a:br>
              <a:rPr lang="en-GB" sz="1400" dirty="0"/>
            </a:br>
            <a:r>
              <a:rPr lang="en-GB" sz="1400" dirty="0"/>
              <a:t>• Receives order confirmation</a:t>
            </a:r>
            <a:br>
              <a:rPr lang="en-GB" sz="1400" dirty="0"/>
            </a:br>
            <a:r>
              <a:rPr lang="en-GB" sz="1400" dirty="0"/>
              <a:t>• Can track orders in profile</a:t>
            </a:r>
          </a:p>
          <a:p>
            <a:r>
              <a:rPr lang="en-GB" sz="1400" dirty="0"/>
              <a:t>The design prioritizes minimal clicks and intuitive navigation.</a:t>
            </a:r>
          </a:p>
          <a:p>
            <a:endParaRPr lang="en-IN" sz="1400" dirty="0"/>
          </a:p>
        </p:txBody>
      </p:sp>
      <p:sp>
        <p:nvSpPr>
          <p:cNvPr id="4" name="Date Placeholder 3">
            <a:extLst>
              <a:ext uri="{FF2B5EF4-FFF2-40B4-BE49-F238E27FC236}">
                <a16:creationId xmlns:a16="http://schemas.microsoft.com/office/drawing/2014/main" id="{5C8F535D-EFCA-C6B5-21EC-E49EBFE747ED}"/>
              </a:ext>
            </a:extLst>
          </p:cNvPr>
          <p:cNvSpPr>
            <a:spLocks noGrp="1"/>
          </p:cNvSpPr>
          <p:nvPr>
            <p:ph type="dt" sz="half" idx="10"/>
          </p:nvPr>
        </p:nvSpPr>
        <p:spPr/>
        <p:txBody>
          <a:bodyPr/>
          <a:lstStyle/>
          <a:p>
            <a:fld id="{864BFFB7-4443-4602-A990-B076C1CFE86C}" type="datetime1">
              <a:rPr lang="en-IN" smtClean="0"/>
              <a:pPr/>
              <a:t>07-04-2026</a:t>
            </a:fld>
            <a:endParaRPr lang="en-IN" dirty="0"/>
          </a:p>
        </p:txBody>
      </p:sp>
      <p:sp>
        <p:nvSpPr>
          <p:cNvPr id="5" name="Slide Number Placeholder 4">
            <a:extLst>
              <a:ext uri="{FF2B5EF4-FFF2-40B4-BE49-F238E27FC236}">
                <a16:creationId xmlns:a16="http://schemas.microsoft.com/office/drawing/2014/main" id="{71407596-E493-F74F-C44A-E73C6CE5390F}"/>
              </a:ext>
            </a:extLst>
          </p:cNvPr>
          <p:cNvSpPr>
            <a:spLocks noGrp="1"/>
          </p:cNvSpPr>
          <p:nvPr>
            <p:ph type="sldNum" sz="quarter" idx="12"/>
          </p:nvPr>
        </p:nvSpPr>
        <p:spPr/>
        <p:txBody>
          <a:bodyPr/>
          <a:lstStyle/>
          <a:p>
            <a:fld id="{F32F6845-8F47-4AB8-B9CE-96D88E741707}" type="slidenum">
              <a:rPr lang="en-IN" smtClean="0"/>
              <a:pPr/>
              <a:t>16</a:t>
            </a:fld>
            <a:endParaRPr lang="en-IN" dirty="0"/>
          </a:p>
        </p:txBody>
      </p:sp>
    </p:spTree>
    <p:extLst>
      <p:ext uri="{BB962C8B-B14F-4D97-AF65-F5344CB8AC3E}">
        <p14:creationId xmlns:p14="http://schemas.microsoft.com/office/powerpoint/2010/main" val="689506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least 50%)</a:t>
            </a:r>
          </a:p>
        </p:txBody>
      </p:sp>
      <p:sp>
        <p:nvSpPr>
          <p:cNvPr id="3" name="Content Placeholder 2"/>
          <p:cNvSpPr>
            <a:spLocks noGrp="1"/>
          </p:cNvSpPr>
          <p:nvPr>
            <p:ph idx="1"/>
          </p:nvPr>
        </p:nvSpPr>
        <p:spPr>
          <a:xfrm>
            <a:off x="838200" y="1184367"/>
            <a:ext cx="10515600" cy="4058194"/>
          </a:xfrm>
        </p:spPr>
        <p:txBody>
          <a:bodyPr>
            <a:normAutofit fontScale="70000" lnSpcReduction="20000"/>
          </a:bodyPr>
          <a:lstStyle/>
          <a:p>
            <a:r>
              <a:rPr lang="en-GB" dirty="0"/>
              <a:t>The system implementation phase involved converting the planned UI/UX design into a high-fidelity interactive prototype using Figma. The implementation focused on creating structured layouts, reusable components, and smooth user navigation across the Gardening and Aquarium e-commerce websites.</a:t>
            </a:r>
          </a:p>
          <a:p>
            <a:r>
              <a:rPr lang="en-GB" b="1" dirty="0"/>
              <a:t>Implemented Modules:</a:t>
            </a:r>
          </a:p>
          <a:p>
            <a:r>
              <a:rPr lang="en-GB" dirty="0"/>
              <a:t>• Homepage with hero and featured sections</a:t>
            </a:r>
            <a:br>
              <a:rPr lang="en-GB" dirty="0"/>
            </a:br>
            <a:r>
              <a:rPr lang="en-GB" dirty="0"/>
              <a:t>• Category and product listing pages</a:t>
            </a:r>
            <a:br>
              <a:rPr lang="en-GB" dirty="0"/>
            </a:br>
            <a:r>
              <a:rPr lang="en-GB" dirty="0"/>
              <a:t>• Product detail interface</a:t>
            </a:r>
            <a:br>
              <a:rPr lang="en-GB" dirty="0"/>
            </a:br>
            <a:r>
              <a:rPr lang="en-GB" dirty="0"/>
              <a:t>• Cart and checkout pages</a:t>
            </a:r>
            <a:br>
              <a:rPr lang="en-GB" dirty="0"/>
            </a:br>
            <a:r>
              <a:rPr lang="en-GB" dirty="0"/>
              <a:t>• Payment and order confirmation screen</a:t>
            </a:r>
            <a:br>
              <a:rPr lang="en-GB" dirty="0"/>
            </a:br>
            <a:r>
              <a:rPr lang="en-GB" dirty="0"/>
              <a:t>• Login, signup, and user profile dashboard</a:t>
            </a:r>
          </a:p>
          <a:p>
            <a:r>
              <a:rPr lang="en-GB" b="1" dirty="0"/>
              <a:t>Interactive Features:</a:t>
            </a:r>
          </a:p>
          <a:p>
            <a:r>
              <a:rPr lang="en-GB" dirty="0"/>
              <a:t>• Clickable navigation flow</a:t>
            </a:r>
            <a:br>
              <a:rPr lang="en-GB" dirty="0"/>
            </a:br>
            <a:r>
              <a:rPr lang="en-GB" dirty="0"/>
              <a:t>• Add-to-cart simulation</a:t>
            </a:r>
            <a:br>
              <a:rPr lang="en-GB" dirty="0"/>
            </a:br>
            <a:r>
              <a:rPr lang="en-GB" dirty="0"/>
              <a:t>• Checkout workflow simulation</a:t>
            </a:r>
            <a:br>
              <a:rPr lang="en-GB" dirty="0"/>
            </a:br>
            <a:r>
              <a:rPr lang="en-GB" dirty="0"/>
              <a:t>• Button hover and transition effects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2202617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System Testing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
        <p:nvSpPr>
          <p:cNvPr id="7" name="Content Placeholder 6">
            <a:extLst>
              <a:ext uri="{FF2B5EF4-FFF2-40B4-BE49-F238E27FC236}">
                <a16:creationId xmlns:a16="http://schemas.microsoft.com/office/drawing/2014/main" id="{AFABE91E-289A-97B1-B570-D107AED88DFE}"/>
              </a:ext>
            </a:extLst>
          </p:cNvPr>
          <p:cNvSpPr>
            <a:spLocks noGrp="1"/>
          </p:cNvSpPr>
          <p:nvPr>
            <p:ph idx="1"/>
          </p:nvPr>
        </p:nvSpPr>
        <p:spPr/>
        <p:txBody>
          <a:bodyPr/>
          <a:lstStyle/>
          <a:p>
            <a:r>
              <a:rPr lang="en-GB" dirty="0"/>
              <a:t>The design is tested by checking usability, navigation flow, and visual consistency. User flows such as browsing, adding to cart, and checkout are verified. Layout alignment, spacing, and responsiveness are reviewed. Feedback from mentors and testing is used to refine the design and improve overall user experience.</a:t>
            </a:r>
          </a:p>
        </p:txBody>
      </p:sp>
    </p:spTree>
    <p:extLst>
      <p:ext uri="{BB962C8B-B14F-4D97-AF65-F5344CB8AC3E}">
        <p14:creationId xmlns:p14="http://schemas.microsoft.com/office/powerpoint/2010/main" val="3497100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7687-00CF-5CEB-944D-3A008EE5DA15}"/>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Conclusion</a:t>
            </a:r>
            <a:endParaRPr lang="en-IN" dirty="0"/>
          </a:p>
        </p:txBody>
      </p:sp>
      <p:sp>
        <p:nvSpPr>
          <p:cNvPr id="3" name="Content Placeholder 2">
            <a:extLst>
              <a:ext uri="{FF2B5EF4-FFF2-40B4-BE49-F238E27FC236}">
                <a16:creationId xmlns:a16="http://schemas.microsoft.com/office/drawing/2014/main" id="{0339A1E9-609C-3A5C-6E76-D8DE63BD8120}"/>
              </a:ext>
            </a:extLst>
          </p:cNvPr>
          <p:cNvSpPr>
            <a:spLocks noGrp="1"/>
          </p:cNvSpPr>
          <p:nvPr>
            <p:ph idx="1"/>
          </p:nvPr>
        </p:nvSpPr>
        <p:spPr/>
        <p:txBody>
          <a:bodyPr/>
          <a:lstStyle/>
          <a:p>
            <a:r>
              <a:rPr lang="en-GB" dirty="0"/>
              <a:t>The project successfully demonstrates a complete UI/UX design process for an e-commerce website. It improves visual design, content clarity, and user navigation. The internship enhanced skills in Figma, design systems, and user experience planning, while also providing real-world project exposure.</a:t>
            </a:r>
            <a:endParaRPr lang="en-IN" dirty="0"/>
          </a:p>
        </p:txBody>
      </p:sp>
      <p:sp>
        <p:nvSpPr>
          <p:cNvPr id="4" name="Date Placeholder 3">
            <a:extLst>
              <a:ext uri="{FF2B5EF4-FFF2-40B4-BE49-F238E27FC236}">
                <a16:creationId xmlns:a16="http://schemas.microsoft.com/office/drawing/2014/main" id="{FEF84135-B00B-8DCF-EB4A-566B1B6218CE}"/>
              </a:ext>
            </a:extLst>
          </p:cNvPr>
          <p:cNvSpPr>
            <a:spLocks noGrp="1"/>
          </p:cNvSpPr>
          <p:nvPr>
            <p:ph type="dt" sz="half" idx="10"/>
          </p:nvPr>
        </p:nvSpPr>
        <p:spPr/>
        <p:txBody>
          <a:bodyPr/>
          <a:lstStyle/>
          <a:p>
            <a:fld id="{864BFFB7-4443-4602-A990-B076C1CFE86C}" type="datetime1">
              <a:rPr lang="en-IN" smtClean="0"/>
              <a:pPr/>
              <a:t>07-04-2026</a:t>
            </a:fld>
            <a:endParaRPr lang="en-IN" dirty="0"/>
          </a:p>
        </p:txBody>
      </p:sp>
      <p:sp>
        <p:nvSpPr>
          <p:cNvPr id="5" name="Slide Number Placeholder 4">
            <a:extLst>
              <a:ext uri="{FF2B5EF4-FFF2-40B4-BE49-F238E27FC236}">
                <a16:creationId xmlns:a16="http://schemas.microsoft.com/office/drawing/2014/main" id="{D6B56FD6-6208-3341-E329-F069048B0AC8}"/>
              </a:ext>
            </a:extLst>
          </p:cNvPr>
          <p:cNvSpPr>
            <a:spLocks noGrp="1"/>
          </p:cNvSpPr>
          <p:nvPr>
            <p:ph type="sldNum" sz="quarter" idx="12"/>
          </p:nvPr>
        </p:nvSpPr>
        <p:spPr/>
        <p:txBody>
          <a:bodyPr/>
          <a:lstStyle/>
          <a:p>
            <a:fld id="{F32F6845-8F47-4AB8-B9CE-96D88E741707}" type="slidenum">
              <a:rPr lang="en-IN" smtClean="0"/>
              <a:pPr/>
              <a:t>19</a:t>
            </a:fld>
            <a:endParaRPr lang="en-IN" dirty="0"/>
          </a:p>
        </p:txBody>
      </p:sp>
    </p:spTree>
    <p:extLst>
      <p:ext uri="{BB962C8B-B14F-4D97-AF65-F5344CB8AC3E}">
        <p14:creationId xmlns:p14="http://schemas.microsoft.com/office/powerpoint/2010/main" val="23818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130E2-2DA9-5F4A-C2B0-CD6A59D44457}"/>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References</a:t>
            </a:r>
            <a:endParaRPr lang="en-IN" dirty="0"/>
          </a:p>
        </p:txBody>
      </p:sp>
      <p:sp>
        <p:nvSpPr>
          <p:cNvPr id="4" name="Date Placeholder 3">
            <a:extLst>
              <a:ext uri="{FF2B5EF4-FFF2-40B4-BE49-F238E27FC236}">
                <a16:creationId xmlns:a16="http://schemas.microsoft.com/office/drawing/2014/main" id="{B48AB267-0EFC-619A-E230-FC20BF016362}"/>
              </a:ext>
            </a:extLst>
          </p:cNvPr>
          <p:cNvSpPr>
            <a:spLocks noGrp="1"/>
          </p:cNvSpPr>
          <p:nvPr>
            <p:ph type="dt" sz="half" idx="10"/>
          </p:nvPr>
        </p:nvSpPr>
        <p:spPr/>
        <p:txBody>
          <a:bodyPr/>
          <a:lstStyle/>
          <a:p>
            <a:fld id="{864BFFB7-4443-4602-A990-B076C1CFE86C}" type="datetime1">
              <a:rPr lang="en-IN" smtClean="0"/>
              <a:pPr/>
              <a:t>07-04-2026</a:t>
            </a:fld>
            <a:endParaRPr lang="en-IN" dirty="0"/>
          </a:p>
        </p:txBody>
      </p:sp>
      <p:sp>
        <p:nvSpPr>
          <p:cNvPr id="5" name="Slide Number Placeholder 4">
            <a:extLst>
              <a:ext uri="{FF2B5EF4-FFF2-40B4-BE49-F238E27FC236}">
                <a16:creationId xmlns:a16="http://schemas.microsoft.com/office/drawing/2014/main" id="{8B5CC744-F564-84F0-5E92-5A56D962CA16}"/>
              </a:ext>
            </a:extLst>
          </p:cNvPr>
          <p:cNvSpPr>
            <a:spLocks noGrp="1"/>
          </p:cNvSpPr>
          <p:nvPr>
            <p:ph type="sldNum" sz="quarter" idx="12"/>
          </p:nvPr>
        </p:nvSpPr>
        <p:spPr/>
        <p:txBody>
          <a:bodyPr/>
          <a:lstStyle/>
          <a:p>
            <a:fld id="{F32F6845-8F47-4AB8-B9CE-96D88E741707}" type="slidenum">
              <a:rPr lang="en-IN" smtClean="0"/>
              <a:pPr/>
              <a:t>20</a:t>
            </a:fld>
            <a:endParaRPr lang="en-IN" dirty="0"/>
          </a:p>
        </p:txBody>
      </p:sp>
      <p:sp>
        <p:nvSpPr>
          <p:cNvPr id="6" name="Rectangle 1">
            <a:extLst>
              <a:ext uri="{FF2B5EF4-FFF2-40B4-BE49-F238E27FC236}">
                <a16:creationId xmlns:a16="http://schemas.microsoft.com/office/drawing/2014/main" id="{D883D1D2-AFAF-3CFF-7942-D4FD7BD2ABCA}"/>
              </a:ext>
            </a:extLst>
          </p:cNvPr>
          <p:cNvSpPr>
            <a:spLocks noGrp="1" noChangeArrowheads="1"/>
          </p:cNvSpPr>
          <p:nvPr>
            <p:ph idx="1"/>
          </p:nvPr>
        </p:nvSpPr>
        <p:spPr bwMode="auto">
          <a:xfrm>
            <a:off x="838200" y="1884998"/>
            <a:ext cx="66105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Figma Official 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UX Collective, Smashing Magazine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UI/UX Design Blogs and Tutorials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MDN Web Docs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Mentor guidance and company resources </a:t>
            </a:r>
          </a:p>
        </p:txBody>
      </p:sp>
    </p:spTree>
    <p:extLst>
      <p:ext uri="{BB962C8B-B14F-4D97-AF65-F5344CB8AC3E}">
        <p14:creationId xmlns:p14="http://schemas.microsoft.com/office/powerpoint/2010/main" val="338634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buNone/>
            </a:pPr>
            <a:r>
              <a:rPr lang="en-US" dirty="0">
                <a:hlinkClick r:id="rId2" tooltip="https://github.com/Snigdha230920/snigdha-internship"/>
              </a:rPr>
              <a:t>https://github.com/Snigdha230920/snigdha-internship</a:t>
            </a:r>
            <a:endParaRPr lang="en-US" dirty="0"/>
          </a:p>
          <a:p>
            <a:endParaRPr lang="en-US" dirty="0"/>
          </a:p>
          <a:p>
            <a:pPr marL="0" indent="0">
              <a:buNone/>
            </a:pPr>
            <a:endParaRPr lang="en-US" dirty="0"/>
          </a:p>
        </p:txBody>
      </p:sp>
    </p:spTree>
    <p:extLst>
      <p:ext uri="{BB962C8B-B14F-4D97-AF65-F5344CB8AC3E}">
        <p14:creationId xmlns:p14="http://schemas.microsoft.com/office/powerpoint/2010/main" val="295621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22</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23</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7022</TotalTime>
  <Words>1350</Words>
  <Application>Microsoft Office PowerPoint</Application>
  <PresentationFormat>Widescreen</PresentationFormat>
  <Paragraphs>188</Paragraphs>
  <Slides>23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Cambria</vt:lpstr>
      <vt:lpstr>Times New Roman</vt:lpstr>
      <vt:lpstr>Verdana</vt:lpstr>
      <vt:lpstr>Wingdings</vt:lpstr>
      <vt:lpstr>Office Theme</vt:lpstr>
      <vt:lpstr>PowerPoint Presentation</vt:lpstr>
      <vt:lpstr>Content</vt:lpstr>
      <vt:lpstr>PowerPoint Presentation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PowerPoint Presentation</vt:lpstr>
      <vt:lpstr>PowerPoint Presentation</vt:lpstr>
      <vt:lpstr>PowerPoint Presentation</vt:lpstr>
      <vt:lpstr>System Implementation (At least 50%)</vt:lpstr>
      <vt:lpstr>System Testing</vt:lpstr>
      <vt:lpstr>Conclusion</vt:lpstr>
      <vt:lpstr>References</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SNIGDHA PALAGIRI</cp:lastModifiedBy>
  <cp:revision>720</cp:revision>
  <dcterms:created xsi:type="dcterms:W3CDTF">2022-10-14T07:18:17Z</dcterms:created>
  <dcterms:modified xsi:type="dcterms:W3CDTF">2026-04-07T08:00:38Z</dcterms:modified>
</cp:coreProperties>
</file>